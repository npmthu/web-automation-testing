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67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4572000" cy="7315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1">
                <a:solidFill>
                  <a:srgbClr val="FFFFFF"/>
                </a:solidFill>
                <a:latin typeface="Arial"/>
              </a:rPr>
              <a:t>FIT @ HCMUS · 2026 AI-First Edition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4572000" cy="18288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Arial"/>
              </a:rPr>
              <a:t>Seminar
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23360"/>
            <a:ext cx="4572000" cy="13716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800" b="1" i="0">
                <a:solidFill>
                  <a:srgbClr val="D9E1F2"/>
                </a:solidFill>
                <a:latin typeface="Arial"/>
              </a:rPr>
              <a:t>Workflow
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35040"/>
            <a:ext cx="4572000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Arial"/>
              </a:rPr>
              <a:t>CS423 / CSC15003 — Software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914400"/>
            <a:ext cx="6400800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600" b="0" i="1">
                <a:solidFill>
                  <a:srgbClr val="2E75B6"/>
                </a:solidFill>
                <a:latin typeface="Arial"/>
              </a:rPr>
              <a:t>Department of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554480"/>
            <a:ext cx="6400800" cy="13716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000" b="1" i="0">
                <a:solidFill>
                  <a:srgbClr val="1F4E79"/>
                </a:solidFill>
                <a:latin typeface="Arial"/>
              </a:rPr>
              <a:t>How to run a Seminar — from
first tool survey to AI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5486400"/>
            <a:ext cx="6400800" cy="914400"/>
          </a:xfrm>
          <a:prstGeom prst="round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5486400"/>
            <a:ext cx="6400800" cy="9144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Lecturer: Dr. Lâm Quang Vũ · lqvu@fit.hcmus.edu.vn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Seminar Track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1521440" cy="9144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Testing tools evolve faster than textbooks. The Seminar Track turns each team into the class expert on one modern testing tool — and trains everyone to evaluate AI-augmented alternatives critically rather than enthusiastically.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2788920" cy="3291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278892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78892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Self-directed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2514600" cy="23774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You choose the tool. We approve scope, not the verdict.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743200"/>
            <a:ext cx="2788920" cy="3291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2743200"/>
            <a:ext cx="2788920" cy="6400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2743200"/>
            <a:ext cx="278892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Hands-on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566160"/>
            <a:ext cx="2514600" cy="23774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Demo runs on EShop. Slides are NOT the centrepiece.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2788920" cy="3291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27889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278892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66160"/>
            <a:ext cx="2514600" cy="23774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Mandatory traditional + AI-tool pairing in every demo.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743200"/>
            <a:ext cx="2788920" cy="3291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2743200"/>
            <a:ext cx="2788920" cy="64008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743200"/>
            <a:ext cx="278892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Peer-taught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566160"/>
            <a:ext cx="2514600" cy="23774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You will run a 20-min activity for your classmates.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Seminar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Workflow at a glance — 8 stages from claim to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06040" cy="15544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Tool Survey
&amp; Proposal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2384" y="2404872"/>
            <a:ext cx="164592" cy="219456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46120" y="1737360"/>
            <a:ext cx="2606040" cy="15544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8288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231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Instructor
Approval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61304" y="2404872"/>
            <a:ext cx="164592" cy="219456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35040" y="1737360"/>
            <a:ext cx="2606040" cy="15544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4231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Deep Study
+ EShop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50224" y="2404872"/>
            <a:ext cx="164592" cy="219456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23960" y="1737360"/>
            <a:ext cx="2606040" cy="155448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18288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231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User-Guide
+ Screencast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2606040" cy="155448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805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Pre-share
(3 days early)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72384" y="4462272"/>
            <a:ext cx="164592" cy="219456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46120" y="3794760"/>
            <a:ext cx="2606040" cy="15544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38862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4805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Live Seminar
(45 min)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61304" y="4462272"/>
            <a:ext cx="164592" cy="219456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035040" y="3794760"/>
            <a:ext cx="2606040" cy="155448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38862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4805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Audience
Feedback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650224" y="4462272"/>
            <a:ext cx="164592" cy="219456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823960" y="3794760"/>
            <a:ext cx="2606040" cy="1554480"/>
          </a:xfrm>
          <a:prstGeom prst="round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3886200"/>
            <a:ext cx="2606040" cy="54864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480560"/>
            <a:ext cx="2606040" cy="8686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AI Audit
+ Reflect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698480" y="3337560"/>
            <a:ext cx="457200" cy="457200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0" y="3383280"/>
            <a:ext cx="182880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1">
                <a:solidFill>
                  <a:srgbClr val="202020"/>
                </a:solidFill>
                <a:latin typeface="Arial"/>
              </a:rPr>
              <a:t>⤵ continue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852160"/>
            <a:ext cx="11521440" cy="50292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852160"/>
            <a:ext cx="1152144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700" b="1" i="0">
                <a:solidFill>
                  <a:srgbClr val="1F4E79"/>
                </a:solidFill>
                <a:latin typeface="Arial"/>
              </a:rPr>
              <a:t>Rule of pairing — every live demo must show one TRADITIONAL feature AND one AI feature.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The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54784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200" b="1" i="0" dirty="0">
                <a:solidFill>
                  <a:srgbClr val="1F4E79"/>
                </a:solidFill>
                <a:latin typeface="Arial"/>
              </a:rPr>
              <a:t>Stage S1 — Tool survey &amp; proposal (≤ 1 page, due W6 Sat)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What your proposal must contain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577840" cy="41148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•  Topic code + name (e.g., T6 API Testing)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≥ 3 candidate tools: 1 traditional, 1+ AI-augmented, 1 backup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Comparison matrix — 5 criteria (cost, learning curve, EShop fit, AI ability, community)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Pick + 3-bullet rationale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AI Disclosure: which AI you used + what you cross-checked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Example excerpt — Team Alpha · T6 API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5486400" cy="42062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Arial"/>
              </a:rPr>
              <a:t>Candidates  </a:t>
            </a:r>
            <a:r>
              <a:rPr sz="1300" b="0">
                <a:solidFill>
                  <a:srgbClr val="202020"/>
                </a:solidFill>
                <a:latin typeface="Arial"/>
              </a:rPr>
              <a:t>Postman (traditional) · Karate (traditional, BDD) · Postbot AI (AI inside Postman)</a:t>
            </a:r>
            <a:r>
              <a:rPr sz="1400" b="1">
                <a:solidFill>
                  <a:srgbClr val="1F4E79"/>
                </a:solidFill>
                <a:latin typeface="Arial"/>
              </a:rPr>
              <a:t>Comparison  </a:t>
            </a:r>
            <a:r>
              <a:rPr sz="1300" b="0">
                <a:solidFill>
                  <a:srgbClr val="202020"/>
                </a:solidFill>
                <a:latin typeface="Arial"/>
              </a:rPr>
              <a:t>Postman: free, GUI, weak BDD. Karate: free, Gherkin, harder onboarding. Postbot: free w/ acct, AI assertion suggestions.</a:t>
            </a:r>
            <a:r>
              <a:rPr sz="1400" b="1">
                <a:solidFill>
                  <a:srgbClr val="C00000"/>
                </a:solidFill>
                <a:latin typeface="Arial"/>
              </a:rPr>
              <a:t>Pick  </a:t>
            </a:r>
            <a:r>
              <a:rPr sz="1300" b="0">
                <a:solidFill>
                  <a:srgbClr val="202020"/>
                </a:solidFill>
                <a:latin typeface="Arial"/>
              </a:rPr>
              <a:t>Postman + Postbot. Reasons: (1) lowest onboarding cost, (2) EShop spec is small enough, (3) AI angle is visible end-to-end.</a:t>
            </a:r>
            <a:r>
              <a:rPr sz="1400" b="1">
                <a:solidFill>
                  <a:srgbClr val="C00000"/>
                </a:solidFill>
                <a:latin typeface="Arial"/>
              </a:rPr>
              <a:t>AI Disclosure  </a:t>
            </a:r>
            <a:r>
              <a:rPr sz="1300" b="0">
                <a:solidFill>
                  <a:srgbClr val="202020"/>
                </a:solidFill>
                <a:latin typeface="Arial"/>
              </a:rPr>
              <a:t>Used Claude to draft the comparison; cross-checked Karate pricing on its own docs.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Stage S1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486287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2800" b="1" i="0" dirty="0">
                <a:solidFill>
                  <a:srgbClr val="1F4E79"/>
                </a:solidFill>
                <a:latin typeface="Arial"/>
              </a:rPr>
              <a:t>Stage S2 — Approval verdicts · Stage S3 — Deep study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S2 — 3 possible verdicts (≤ 2 working days)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194560" cy="640080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19456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329184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Proceed to S3 immediately. Lock the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2194560" cy="640080"/>
          </a:xfrm>
          <a:prstGeom prst="round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19456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MINOR-CHANGE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88920"/>
            <a:ext cx="329184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Refine the proposal (≤ 24h); proceed without re-review.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2194560" cy="6400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219456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RECLAIM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66160"/>
            <a:ext cx="3291840" cy="6400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Scope mismatch — pick a different angle / tool.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S3 — Deep study milestones (1–2 weeks)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11680"/>
            <a:ext cx="534924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50" b="0" i="0">
                <a:solidFill>
                  <a:srgbClr val="202020"/>
                </a:solidFill>
                <a:latin typeface="Arial"/>
              </a:rPr>
              <a:t>M1  Install the tool; pass its official 'hello world'.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14600"/>
            <a:ext cx="534924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50" b="0" i="0">
                <a:solidFill>
                  <a:srgbClr val="202020"/>
                </a:solidFill>
                <a:latin typeface="Arial"/>
              </a:rPr>
              <a:t>M2  Run one end-to-end scenario against EShop.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534924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50" b="0" i="0">
                <a:solidFill>
                  <a:srgbClr val="202020"/>
                </a:solidFill>
                <a:latin typeface="Arial"/>
              </a:rPr>
              <a:t>M3  Document 3 real failure modes you observed.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534924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50" b="0" i="0">
                <a:solidFill>
                  <a:srgbClr val="202020"/>
                </a:solidFill>
                <a:latin typeface="Arial"/>
              </a:rPr>
              <a:t>M4  Reproduce the same scenario with the AI variant.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349240" cy="5029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50" b="0" i="0">
                <a:solidFill>
                  <a:srgbClr val="202020"/>
                </a:solidFill>
                <a:latin typeface="Arial"/>
              </a:rPr>
              <a:t>M5  Capture metrics: setup time, run time, flake 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989320"/>
            <a:ext cx="11521440" cy="4572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5989320"/>
            <a:ext cx="115214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1">
                <a:solidFill>
                  <a:srgbClr val="1F4E79"/>
                </a:solidFill>
                <a:latin typeface="Arial"/>
              </a:rPr>
              <a:t>Pair-programming is encouraged — but every team member must be able to demo the tool unaided.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Stages S2 + 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Stage S4 — User-Guide structure + Screencast specs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User_Guide.md — required Markdown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1.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1168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Problem space + who the tool is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2.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1460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Exact commands; OS notes; ≥ 1 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3. First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1752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End-to-end on EShop in ≤ 15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4. Advanced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2044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Configuration, plugins, parallel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2336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5. Troubleshooting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02336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≥ 3 real errors + the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2628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6. Failure Modes (NEW)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2628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≥ 3 ways the tool can mislead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0"/>
            <a:ext cx="228600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7. 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029200"/>
            <a:ext cx="324612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00" b="0" i="0">
                <a:solidFill>
                  <a:srgbClr val="202020"/>
                </a:solidFill>
                <a:latin typeface="Arial"/>
              </a:rPr>
              <a:t>Docs, blog posts, papers — cite the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Demo_Screencast.mp4 — specs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01168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201168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01168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5–8 minutes (firm)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51460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51460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51460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1080p preferred · 720p minimum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01752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01752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301752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≤ 100 MB (split-zip if larger)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52044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52044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Language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52044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English narration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02336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402336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Audio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02336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No background music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52628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452628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Subtitles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52628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Optional but recommended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029200"/>
            <a:ext cx="21031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5029200"/>
            <a:ext cx="2103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Arial"/>
              </a:rPr>
              <a:t>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5029200"/>
            <a:ext cx="31089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350" b="0" i="0">
                <a:solidFill>
                  <a:srgbClr val="202020"/>
                </a:solidFill>
                <a:latin typeface="Arial"/>
              </a:rPr>
              <a:t>Real terminal/IDE — no pre-recorded fakes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Stage S4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54784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200" b="1" i="0" dirty="0">
                <a:solidFill>
                  <a:srgbClr val="1F4E79"/>
                </a:solidFill>
                <a:latin typeface="Arial"/>
              </a:rPr>
              <a:t>Stage S5 — Pre-share · Stage S6 — Live seminar (45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457200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45720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S5 — Pre-share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572000" cy="36576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600" b="1" i="0">
                <a:solidFill>
                  <a:srgbClr val="202020"/>
                </a:solidFill>
                <a:latin typeface="Arial"/>
              </a:rPr>
              <a:t>≥ 3 working days before your live
seminar, push to Moodle:</a:t>
            </a:r>
          </a:p>
          <a:p>
            <a:r>
              <a:rPr sz="800" b="0" i="0">
                <a:solidFill>
                  <a:srgbClr val="202020"/>
                </a:solidFill>
                <a:latin typeface="Arial"/>
              </a:rPr>
              <a:t>
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User_Guide.md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Demo_Screencast.mp4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Activity_Worksheet.md</a:t>
            </a:r>
          </a:p>
          <a:p>
            <a:r>
              <a:rPr sz="1500" b="0" i="0">
                <a:solidFill>
                  <a:srgbClr val="202020"/>
                </a:solidFill>
                <a:latin typeface="Arial"/>
              </a:rPr>
              <a:t>•  Seminar_Slides.pptx</a:t>
            </a:r>
          </a:p>
          <a:p>
            <a:r>
              <a:rPr sz="600" b="0" i="0">
                <a:solidFill>
                  <a:srgbClr val="202020"/>
                </a:solidFill>
                <a:latin typeface="Arial"/>
              </a:rPr>
              <a:t>
</a:t>
            </a:r>
          </a:p>
          <a:p>
            <a:r>
              <a:rPr sz="1400" b="0" i="1">
                <a:solidFill>
                  <a:srgbClr val="C00000"/>
                </a:solidFill>
                <a:latin typeface="Arial"/>
              </a:rPr>
              <a:t>Audience teams that don't skim
the materials lose 1 attendance
credit on the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463040"/>
            <a:ext cx="667512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463040"/>
            <a:ext cx="66751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S6 — 45-min live seminar breakdown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103120"/>
            <a:ext cx="148336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103120"/>
            <a:ext cx="148336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Pitch
10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5440" y="2103120"/>
            <a:ext cx="1483360" cy="7315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5440" y="2103120"/>
            <a:ext cx="148336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Live demo
10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8800" y="2103120"/>
            <a:ext cx="2966720" cy="73152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8800" y="2103120"/>
            <a:ext cx="296672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Audience activity
20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45520" y="2103120"/>
            <a:ext cx="741680" cy="73152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45520" y="2103120"/>
            <a:ext cx="741680" cy="73152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Q&amp;A
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08960"/>
            <a:ext cx="667512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600" b="1" i="0">
                <a:solidFill>
                  <a:srgbClr val="1F4E79"/>
                </a:solidFill>
                <a:latin typeface="Arial"/>
              </a:rPr>
              <a:t>Tips for the live seminar: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611880"/>
            <a:ext cx="6675120" cy="2743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Slides ≤ 15 — the activity is the centrepiece, not the slides.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Demo on a real terminal/IDE; have a backup recording ready in case the network dies.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Print the Activity_Worksheet for audience teams without a laptop.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Assign roles within your team: 1 presenter, 1 demoer, 1 facilitator, 1 timekeeper.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Hand out a 1-page cheat-sheet — your audience will thank you.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Stages S5 + S6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54784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200" b="1" i="0" dirty="0">
                <a:solidFill>
                  <a:srgbClr val="1F4E79"/>
                </a:solidFill>
                <a:latin typeface="Arial"/>
              </a:rPr>
              <a:t>Stage S7 — Audience feedback · Stage S8 — AI Audit pack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S7 — Minute paper template (1 per team, end of session)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5760720" cy="42062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Seminar code · Date  </a:t>
            </a:r>
            <a:r>
              <a:rPr sz="1300" b="0" i="0">
                <a:solidFill>
                  <a:srgbClr val="202020"/>
                </a:solidFill>
                <a:latin typeface="Arial"/>
              </a:rPr>
              <a:t>e.g., T6 · 2026-03-10</a:t>
            </a:r>
          </a:p>
          <a:p>
            <a:r>
              <a:rPr sz="1400" b="1" i="0">
                <a:solidFill>
                  <a:srgbClr val="1F4E79"/>
                </a:solidFill>
                <a:latin typeface="Arial"/>
              </a:rPr>
              <a:t>Team &amp; members  </a:t>
            </a:r>
            <a:r>
              <a:rPr sz="1300" b="0" i="0">
                <a:solidFill>
                  <a:srgbClr val="202020"/>
                </a:solidFill>
                <a:latin typeface="Arial"/>
              </a:rPr>
              <a:t>Team β · An, Bình, Châu, Dũng</a:t>
            </a:r>
          </a:p>
          <a:p>
            <a:r>
              <a:rPr sz="1400" b="1" i="0">
                <a:solidFill>
                  <a:srgbClr val="1F4E79"/>
                </a:solidFill>
                <a:latin typeface="Arial"/>
              </a:rPr>
              <a:t>(a) Most useful thing I learned  </a:t>
            </a:r>
            <a:r>
              <a:rPr sz="1300" b="0" i="1">
                <a:solidFill>
                  <a:srgbClr val="202020"/>
                </a:solidFill>
                <a:latin typeface="Arial"/>
              </a:rPr>
              <a:t>"Postbot can suggest assertions but it suggested an assertion on a non-existent field — humans must verify."</a:t>
            </a:r>
          </a:p>
          <a:p>
            <a:r>
              <a:rPr sz="1400" b="1" i="0">
                <a:solidFill>
                  <a:srgbClr val="1F4E79"/>
                </a:solidFill>
                <a:latin typeface="Arial"/>
              </a:rPr>
              <a:t>(b) One thing still unclear  </a:t>
            </a:r>
            <a:r>
              <a:rPr sz="1300" b="0" i="1">
                <a:solidFill>
                  <a:srgbClr val="202020"/>
                </a:solidFill>
                <a:latin typeface="Arial"/>
              </a:rPr>
              <a:t>"When is Karate strictly better than Postman?"</a:t>
            </a:r>
          </a:p>
          <a:p>
            <a:r>
              <a:rPr sz="1400" b="1" i="0">
                <a:solidFill>
                  <a:srgbClr val="1F4E79"/>
                </a:solidFill>
                <a:latin typeface="Arial"/>
              </a:rPr>
              <a:t>(c) Usefulness rating (1–5)  </a:t>
            </a:r>
            <a:r>
              <a:rPr sz="1300" b="0" i="0">
                <a:solidFill>
                  <a:srgbClr val="202020"/>
                </a:solidFill>
                <a:latin typeface="Arial"/>
              </a:rPr>
              <a:t>4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S8 — AI Audit pack (within 5 working days)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011680"/>
            <a:ext cx="1371600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1371600" cy="8229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[AI-02]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011680"/>
            <a:ext cx="3886200" cy="8229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AI Audit Report — 5 sections · ≥ 600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1371600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1371600" cy="8229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[AI-03]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971800"/>
            <a:ext cx="3886200" cy="8229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AI Disclosure — signed PDF per member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931920"/>
            <a:ext cx="1371600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931920"/>
            <a:ext cx="1371600" cy="8229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[AI-04]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931920"/>
            <a:ext cx="3886200" cy="82296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Reflective Statement — 300 words English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029200"/>
            <a:ext cx="5394960" cy="12801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1" i="0">
                <a:solidFill>
                  <a:srgbClr val="1F4E79"/>
                </a:solidFill>
                <a:latin typeface="Arial"/>
              </a:rPr>
              <a:t>Templates live in:
Homeworks/AI Templates/_En/</a:t>
            </a:r>
          </a:p>
          <a:p>
            <a:r>
              <a:rPr sz="1300" b="0" i="1">
                <a:solidFill>
                  <a:srgbClr val="202020"/>
                </a:solidFill>
                <a:latin typeface="Arial"/>
              </a:rPr>
              <a:t>
Fill them in directly — do not paraphrase. Sign your real name.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Stages S7 + S8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AI Prompt Templates — copy, paste, 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521440" cy="3657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1">
                <a:solidFill>
                  <a:srgbClr val="202020"/>
                </a:solidFill>
                <a:latin typeface="Arial"/>
              </a:rPr>
              <a:t>Use these as starting points. Replace [BRACKETED] tokens and ALWAYS audit the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5577840" cy="233172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30352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1" i="0">
                <a:solidFill>
                  <a:srgbClr val="D9E1F2"/>
                </a:solidFill>
                <a:latin typeface="Arial"/>
              </a:rPr>
              <a:t>TEMPLATE 1 — Tool comparison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303520" cy="1737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onsolas"/>
              </a:rPr>
              <a:t>I am preparing a seminar on [topic]. Build a comparison
matrix for [Tool A], [Tool B], [Tool AI] on these 5 axes:
licence cost, learning curve, fit with [SUT name],
AI capability, community size. Cite sources after each
row. Flag any claim you are NOT 90% sure about.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577840" cy="233172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1" i="0">
                <a:solidFill>
                  <a:srgbClr val="D9E1F2"/>
                </a:solidFill>
                <a:latin typeface="Arial"/>
              </a:rPr>
              <a:t>TEMPLATE 2 — User guide draft (Failure Modes section)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303520" cy="1737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onsolas"/>
              </a:rPr>
              <a:t>Given this tool [tool name], list 5 plausible 'failure
modes' — situations where the tool returns a wrong or
misleading result. For each: (1) trigger, (2) symptom,
(3) detection, (4) mitigation. Do not invent — only list
modes documented in official docs, GH issues, or papers.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97680"/>
            <a:ext cx="5577840" cy="233172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530352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1" i="0">
                <a:solidFill>
                  <a:srgbClr val="D9E1F2"/>
                </a:solidFill>
                <a:latin typeface="Arial"/>
              </a:rPr>
              <a:t>TEMPLATE 3 — Worksheet draft for audience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00600"/>
            <a:ext cx="5303520" cy="1737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onsolas"/>
              </a:rPr>
              <a:t>Design a 25-minute classroom activity that lets a team
of 3–4 students try [feature] of [tool] on the EShop
[scenario]. Output: Time-boxed steps, the worksheet,
and an answer key. Activity must be feasible without
internet access AFTER initial setup.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297680"/>
            <a:ext cx="5577840" cy="2331720"/>
          </a:xfrm>
          <a:prstGeom prst="round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530352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1" i="0">
                <a:solidFill>
                  <a:srgbClr val="D9E1F2"/>
                </a:solidFill>
                <a:latin typeface="Arial"/>
              </a:rPr>
              <a:t>TEMPLATE 4 — Critical audit of an AI-generated artefact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5303520" cy="1737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onsolas"/>
              </a:rPr>
              <a:t>Below is an AI-generated [test script / report / fix].
Audit it for: (a) factual errors, (b) missing edge cases,
(c) silent assumptions, (d) over-confident statements.
Output a numbered list with line references. Do not
rewrite the artefact — only audit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9 · AI prompt templates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CS423/CSC15003 — Software Testing · Seminar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Rubric snapshot · Common pitfalls to avoid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76072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Rubric (Seminar = 20% of course)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5760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Tool survey +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96312"/>
            <a:ext cx="5760720" cy="4572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96312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Depth of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96312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80944"/>
            <a:ext cx="5760720" cy="4572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80944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User-guide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80944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20%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65576"/>
            <a:ext cx="5760720" cy="4572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65576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Live demo on EShop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65576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15%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50208"/>
            <a:ext cx="5760720" cy="45720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950208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In-class hands-on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950208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34840"/>
            <a:ext cx="5760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Q&amp;A + facilitation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434840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19472"/>
            <a:ext cx="5760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919472"/>
            <a:ext cx="42062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AI Audit + Disclosure + Reflect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919472"/>
            <a:ext cx="128016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r"/>
            <a:r>
              <a:rPr sz="1600" b="1" i="0">
                <a:solidFill>
                  <a:srgbClr val="1F4E79"/>
                </a:solidFill>
                <a:latin typeface="Arial"/>
              </a:rPr>
              <a:t>10%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1463040"/>
            <a:ext cx="548640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Top 6 pitfalls — auto-penalty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011680"/>
            <a:ext cx="5349240" cy="41148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1.  Copy-pasting AI output into the user guide unedited.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2.  Demo'ing only the traditional tool OR only the AI tool — both required.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3.  Skipping the 'Failure Modes' section in the user guide.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4.  Pre-recording the 'live' demo (TAs check).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5.  Activity worksheet that cannot finish in 25 min.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6.  Missing AI Disclosure or empty [AI-02] sections.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80760"/>
            <a:ext cx="11521440" cy="411480"/>
          </a:xfrm>
          <a:prstGeom prst="rect">
            <a:avLst/>
          </a:prstGeom>
          <a:solidFill>
            <a:srgbClr val="B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080760"/>
            <a:ext cx="11521440" cy="41148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Audience attendance — miss &gt; 2 of the 10 live seminars and your team's seminar grade is capped at 70%.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10 · Rubric + pitfalls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115214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300" b="0" i="1">
                <a:solidFill>
                  <a:srgbClr val="D9E1F2"/>
                </a:solidFill>
                <a:latin typeface="Arial"/>
              </a:rPr>
              <a:t>FIT @ HCMUS · 2026 AI-First · CS423/CSC15003 — 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521440" cy="18288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"/>
              </a:rPr>
              <a:t>Ready to claim your topic?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11521440" cy="9144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ctr"/>
            <a:r>
              <a:rPr sz="2000" b="0" i="1">
                <a:solidFill>
                  <a:srgbClr val="D9E1F2"/>
                </a:solidFill>
                <a:latin typeface="Arial"/>
              </a:rPr>
              <a:t>Open Seminar_Guide.docx · pick from Topic-Descriptions/ · post your proposal by W6 Sat 23:59.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3520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3154680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1" i="0">
                <a:solidFill>
                  <a:srgbClr val="1F4E79"/>
                </a:solidFill>
                <a:latin typeface="Arial"/>
              </a:rPr>
              <a:t>📄  Seminar_Guide.docx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3154680" cy="594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Full workflow + rubric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297680"/>
            <a:ext cx="3520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4480560"/>
            <a:ext cx="3154680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1" i="0">
                <a:solidFill>
                  <a:srgbClr val="1F4E79"/>
                </a:solidFill>
                <a:latin typeface="Arial"/>
              </a:rPr>
              <a:t>📁  Topic-Descriptions/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074920"/>
            <a:ext cx="3154680" cy="594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10 ready-to-use topic briefs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297680"/>
            <a:ext cx="35204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480560"/>
            <a:ext cx="3154680" cy="5486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700" b="1" i="0">
                <a:solidFill>
                  <a:srgbClr val="1F4E79"/>
                </a:solidFill>
                <a:latin typeface="Arial"/>
              </a:rPr>
              <a:t>🖼  InClass-Activities/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074920"/>
            <a:ext cx="3154680" cy="59436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8-slide audience activity decks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72200"/>
            <a:ext cx="11521440" cy="45720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algn="ctr"/>
            <a:r>
              <a:rPr sz="1400" b="0" i="1">
                <a:solidFill>
                  <a:srgbClr val="D9E1F2"/>
                </a:solidFill>
                <a:latin typeface="Arial"/>
              </a:rPr>
              <a:t>Questions: Moodle Forum (first) · Dr. Vũ — lqvu@fit.hcmus.edu.vn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1764</Words>
  <Application>Microsoft Office PowerPoint</Application>
  <PresentationFormat>Widescreen</PresentationFormat>
  <Paragraphs>190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Lam Quang, Vu</cp:lastModifiedBy>
  <cp:revision>6</cp:revision>
  <dcterms:created xsi:type="dcterms:W3CDTF">2013-01-27T09:14:16Z</dcterms:created>
  <dcterms:modified xsi:type="dcterms:W3CDTF">2026-05-18T05:54:17Z</dcterms:modified>
  <cp:category/>
</cp:coreProperties>
</file>